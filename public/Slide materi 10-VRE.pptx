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wmv" ContentType="video/x-ms-wmv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4"/>
    <p:sldMasterId id="2147483771" r:id="rId5"/>
  </p:sldMasterIdLst>
  <p:notesMasterIdLst>
    <p:notesMasterId r:id="rId46"/>
  </p:notesMasterIdLst>
  <p:handoutMasterIdLst>
    <p:handoutMasterId r:id="rId47"/>
  </p:handoutMasterIdLst>
  <p:sldIdLst>
    <p:sldId id="348" r:id="rId6"/>
    <p:sldId id="361" r:id="rId7"/>
    <p:sldId id="351" r:id="rId8"/>
    <p:sldId id="349" r:id="rId9"/>
    <p:sldId id="352" r:id="rId10"/>
    <p:sldId id="362" r:id="rId11"/>
    <p:sldId id="358" r:id="rId12"/>
    <p:sldId id="312" r:id="rId13"/>
    <p:sldId id="313" r:id="rId14"/>
    <p:sldId id="314" r:id="rId15"/>
    <p:sldId id="315" r:id="rId16"/>
    <p:sldId id="316" r:id="rId17"/>
    <p:sldId id="353" r:id="rId18"/>
    <p:sldId id="354" r:id="rId19"/>
    <p:sldId id="317" r:id="rId20"/>
    <p:sldId id="318" r:id="rId21"/>
    <p:sldId id="319" r:id="rId22"/>
    <p:sldId id="321" r:id="rId23"/>
    <p:sldId id="322" r:id="rId24"/>
    <p:sldId id="320" r:id="rId25"/>
    <p:sldId id="328" r:id="rId26"/>
    <p:sldId id="329" r:id="rId27"/>
    <p:sldId id="363" r:id="rId28"/>
    <p:sldId id="330" r:id="rId29"/>
    <p:sldId id="350" r:id="rId30"/>
    <p:sldId id="364" r:id="rId31"/>
    <p:sldId id="331" r:id="rId32"/>
    <p:sldId id="332" r:id="rId33"/>
    <p:sldId id="355" r:id="rId34"/>
    <p:sldId id="337" r:id="rId35"/>
    <p:sldId id="338" r:id="rId36"/>
    <p:sldId id="339" r:id="rId37"/>
    <p:sldId id="356" r:id="rId38"/>
    <p:sldId id="357" r:id="rId39"/>
    <p:sldId id="341" r:id="rId40"/>
    <p:sldId id="365" r:id="rId41"/>
    <p:sldId id="344" r:id="rId42"/>
    <p:sldId id="345" r:id="rId43"/>
    <p:sldId id="347" r:id="rId44"/>
    <p:sldId id="359" r:id="rId45"/>
  </p:sldIdLst>
  <p:sldSz cx="9144000" cy="6858000" type="screen4x3"/>
  <p:notesSz cx="6858000" cy="9144000"/>
  <p:custDataLst>
    <p:tags r:id="rId48"/>
  </p:custDataLst>
  <p:defaultTextStyle>
    <a:defPPr>
      <a:defRPr lang="id-ID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8" autoAdjust="0"/>
    <p:restoredTop sz="94719"/>
  </p:normalViewPr>
  <p:slideViewPr>
    <p:cSldViewPr>
      <p:cViewPr varScale="1">
        <p:scale>
          <a:sx n="84" d="100"/>
          <a:sy n="84" d="100"/>
        </p:scale>
        <p:origin x="137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ags" Target="tags/tag1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B30B1A8-AF91-4E5B-8594-2B9BE3CEB90C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59840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11E0B42-DCB7-41CE-B23D-F58964CAC925}" type="datetimeFigureOut">
              <a:rPr lang="en-US"/>
              <a:pPr>
                <a:defRPr/>
              </a:pPr>
              <a:t>8/13/2020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D2DAB0B-57B3-4B4C-86BF-2388465A82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563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33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842C2C-454B-4CC2-B2DC-CFD8F887F6C9}" type="slidenum">
              <a:rPr lang="id-ID" altLang="en-US">
                <a:solidFill>
                  <a:prstClr val="black"/>
                </a:solidFill>
              </a:rPr>
              <a:pPr/>
              <a:t>35</a:t>
            </a:fld>
            <a:endParaRPr lang="id-ID" altLang="en-US">
              <a:solidFill>
                <a:prstClr val="black"/>
              </a:solidFill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Dapat</a:t>
            </a:r>
            <a:r>
              <a:rPr lang="en-US" altLang="en-US" baseline="0" dirty="0"/>
              <a:t> </a:t>
            </a:r>
            <a:r>
              <a:rPr lang="en-US" altLang="en-US" baseline="0" dirty="0" err="1"/>
              <a:t>membuka</a:t>
            </a:r>
            <a:r>
              <a:rPr lang="en-US" altLang="en-US" baseline="0" dirty="0"/>
              <a:t> Video Gesture </a:t>
            </a:r>
            <a:r>
              <a:rPr lang="en-US" altLang="en-US" baseline="0" dirty="0" err="1"/>
              <a:t>dan</a:t>
            </a:r>
            <a:r>
              <a:rPr lang="en-US" altLang="en-US" baseline="0" dirty="0"/>
              <a:t> </a:t>
            </a:r>
            <a:r>
              <a:rPr lang="en-US" altLang="en-US" baseline="0" dirty="0" err="1"/>
              <a:t>Ketik</a:t>
            </a:r>
            <a:endParaRPr lang="id-ID" altLang="en-US" dirty="0"/>
          </a:p>
        </p:txBody>
      </p:sp>
    </p:spTree>
    <p:extLst>
      <p:ext uri="{BB962C8B-B14F-4D97-AF65-F5344CB8AC3E}">
        <p14:creationId xmlns:p14="http://schemas.microsoft.com/office/powerpoint/2010/main" val="845239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5E626-9DF7-4CE2-9072-65C2892B8BB4}" type="slidenum">
              <a:rPr lang="id-ID" altLang="en-US">
                <a:solidFill>
                  <a:prstClr val="black"/>
                </a:solidFill>
              </a:rPr>
              <a:pPr/>
              <a:t>37</a:t>
            </a:fld>
            <a:endParaRPr lang="id-ID" altLang="en-US">
              <a:solidFill>
                <a:prstClr val="black"/>
              </a:solidFill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d-ID" altLang="en-US"/>
              <a:t>Sebuah halaman website agar sesuai untuk ditampilkan pada layar sebuah mobile device, perlu adanya re-design.</a:t>
            </a:r>
          </a:p>
          <a:p>
            <a:pPr eaLnBrk="1" hangingPunct="1"/>
            <a:r>
              <a:rPr lang="id-ID" altLang="en-US"/>
              <a:t>Adakah website yang telah menyediakan auto-converting tampilan website menyesuaikan dengan perangkat mobile yang mengaksesnya?</a:t>
            </a:r>
          </a:p>
        </p:txBody>
      </p:sp>
    </p:spTree>
    <p:extLst>
      <p:ext uri="{BB962C8B-B14F-4D97-AF65-F5344CB8AC3E}">
        <p14:creationId xmlns:p14="http://schemas.microsoft.com/office/powerpoint/2010/main" val="15527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948378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721898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666371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21237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0387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tabLst/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815226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29484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DCC18-E079-43D9-8F6C-556468E669EE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B80E8-87EB-44F5-9EB2-FD24F4256E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3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58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981075"/>
            <a:ext cx="4038600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038600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59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FFB95F8-D7AD-4BB9-93D1-AF7E9DF00579}" type="datetime1">
              <a:rPr lang="en-US" smtClean="0">
                <a:solidFill>
                  <a:prstClr val="black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58763B6-FBED-4767-BE92-4C246710F67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85408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763B6-FBED-4767-BE92-4C246710F673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95F8-D7AD-4BB9-93D1-AF7E9DF00579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8521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763B6-FBED-4767-BE92-4C246710F673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95F8-D7AD-4BB9-93D1-AF7E9DF00579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54609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763B6-FBED-4767-BE92-4C246710F673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95F8-D7AD-4BB9-93D1-AF7E9DF00579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830425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763B6-FBED-4767-BE92-4C246710F673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95F8-D7AD-4BB9-93D1-AF7E9DF00579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6154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tabLst/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763B6-FBED-4767-BE92-4C246710F673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95F8-D7AD-4BB9-93D1-AF7E9DF00579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62084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161349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C3AEA-4BB7-4702-AB2C-7242598B2B16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92080" y="6452172"/>
            <a:ext cx="3615507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white"/>
                </a:solidFill>
              </a:rPr>
              <a:t>CSG2C3 - INTERAKSI MANUSIA DAN KOMPUTER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5F2A9-7083-4189-AA09-2CB48969CCAC}" type="slidenum">
              <a:rPr lang="en-US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270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614561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8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8" r:id="rId8"/>
    <p:sldLayoutId id="2147483769" r:id="rId9"/>
  </p:sldLayoutIdLst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4"/>
        </a:buBlip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93725" indent="-182563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22325" indent="-182563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50925" indent="-182563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233488" indent="-182563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58763B6-FBED-4767-BE92-4C246710F673}" type="slidenum">
              <a:rPr lang="en-US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FFB95F8-D7AD-4BB9-93D1-AF7E9DF00579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8 FEB 2013</a:t>
            </a: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31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</p:sldLayoutIdLst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charset="0"/>
          <a:ea typeface="ＭＳ Ｐゴシック" charset="0"/>
          <a:cs typeface="ＭＳ Ｐゴシック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4"/>
        </a:buBlip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93725" indent="-182563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22325" indent="-182563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50925" indent="-182563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charset="0"/>
        <a:buChar char="–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233488" indent="-182563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Interaksi</a:t>
            </a:r>
            <a:r>
              <a:rPr lang="en-US" dirty="0" smtClean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 </a:t>
            </a:r>
            <a:r>
              <a:rPr lang="en-US" dirty="0" err="1"/>
              <a:t>Dosen</a:t>
            </a:r>
            <a:r>
              <a:rPr lang="en-US" dirty="0"/>
              <a:t> IMK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KK SIDE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810B14A-F91A-4704-A095-D5BFA9CD6BC4}" type="datetime1">
              <a:rPr lang="en-US" smtClean="0"/>
              <a:t>8/13/2020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851920" y="3253089"/>
            <a:ext cx="5112568" cy="1543436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THE USER INTERFACE  (UI)</a:t>
            </a:r>
            <a:br>
              <a:rPr lang="en-US" sz="2400" b="1" dirty="0">
                <a:latin typeface="+mj-lt"/>
              </a:rPr>
            </a:br>
            <a:r>
              <a:rPr lang="en-US" sz="2400" b="1" dirty="0">
                <a:latin typeface="+mj-lt"/>
              </a:rPr>
              <a:t>DESIGN PROCESS</a:t>
            </a:r>
          </a:p>
          <a:p>
            <a:endParaRPr lang="en-US" sz="20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id-ID" altLang="en-US" sz="2000" b="1" dirty="0">
                <a:latin typeface="+mj-lt"/>
              </a:rPr>
              <a:t>Web-Based</a:t>
            </a:r>
            <a:r>
              <a:rPr lang="en-US" altLang="en-US" sz="2000" b="1" dirty="0">
                <a:latin typeface="+mj-lt"/>
              </a:rPr>
              <a:t> </a:t>
            </a:r>
            <a:r>
              <a:rPr lang="id-ID" altLang="en-US" sz="2000" b="1" dirty="0">
                <a:latin typeface="+mj-lt"/>
              </a:rPr>
              <a:t>User Interface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511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8784A38-73C6-499C-8E20-74ADE705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D2D81-EBF3-4866-9FD1-524A604B65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81" y="3108380"/>
            <a:ext cx="8326438" cy="641239"/>
          </a:xfrm>
        </p:spPr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75732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6DCC18-E079-43D9-8F6C-556468E669EE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B80E8-87EB-44F5-9EB2-FD24F4256E2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3528" y="1485488"/>
            <a:ext cx="8442042" cy="4607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796136" y="5991091"/>
            <a:ext cx="12170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900" dirty="0"/>
              <a:t>Sumber APJII, 2016</a:t>
            </a:r>
          </a:p>
        </p:txBody>
      </p:sp>
    </p:spTree>
    <p:extLst>
      <p:ext uri="{BB962C8B-B14F-4D97-AF65-F5344CB8AC3E}">
        <p14:creationId xmlns:p14="http://schemas.microsoft.com/office/powerpoint/2010/main" val="30440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6DCC18-E079-43D9-8F6C-556468E669EE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B80E8-87EB-44F5-9EB2-FD24F4256E2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3528" y="1485488"/>
            <a:ext cx="8442042" cy="4607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796136" y="5991091"/>
            <a:ext cx="12170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900" dirty="0"/>
              <a:t>Sumber APJII, 2016</a:t>
            </a:r>
          </a:p>
        </p:txBody>
      </p:sp>
    </p:spTree>
    <p:extLst>
      <p:ext uri="{BB962C8B-B14F-4D97-AF65-F5344CB8AC3E}">
        <p14:creationId xmlns:p14="http://schemas.microsoft.com/office/powerpoint/2010/main" val="176374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6DCC18-E079-43D9-8F6C-556468E669EE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B80E8-87EB-44F5-9EB2-FD24F4256E2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3528" y="1485488"/>
            <a:ext cx="8442042" cy="4607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5796136" y="5991091"/>
            <a:ext cx="12170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900" dirty="0"/>
              <a:t>Sumber APJII, 2016</a:t>
            </a:r>
          </a:p>
        </p:txBody>
      </p:sp>
    </p:spTree>
    <p:extLst>
      <p:ext uri="{BB962C8B-B14F-4D97-AF65-F5344CB8AC3E}">
        <p14:creationId xmlns:p14="http://schemas.microsoft.com/office/powerpoint/2010/main" val="128912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8784A38-73C6-499C-8E20-74ADE705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D2D81-EBF3-4866-9FD1-524A604B65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81" y="3108380"/>
            <a:ext cx="8326438" cy="641239"/>
          </a:xfrm>
        </p:spPr>
        <p:txBody>
          <a:bodyPr/>
          <a:lstStyle/>
          <a:p>
            <a:pPr algn="ctr"/>
            <a:r>
              <a:rPr lang="en-US" dirty="0"/>
              <a:t>Web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29942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/>
              <a:t>Atribut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A6C559-6877-494E-A8C3-C90289D4F510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04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A60117-3760-4F4E-AC40-4560ECEEBB25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altLang="en-US" dirty="0"/>
              <a:t>Bagaimana mendesain antar muka sistem berbasis web untuk membangun website dengan halaman yang efektif?</a:t>
            </a:r>
          </a:p>
          <a:p>
            <a:r>
              <a:rPr lang="id-ID" altLang="en-US" dirty="0"/>
              <a:t>Beberapa atribut yang perlu diperhatikan:</a:t>
            </a:r>
          </a:p>
          <a:p>
            <a:pPr lvl="1"/>
            <a:r>
              <a:rPr lang="id-ID" altLang="en-US" dirty="0"/>
              <a:t>Textual content</a:t>
            </a:r>
          </a:p>
          <a:p>
            <a:pPr lvl="1"/>
            <a:r>
              <a:rPr lang="id-ID" altLang="en-US" dirty="0"/>
              <a:t>Graphic design</a:t>
            </a:r>
          </a:p>
          <a:p>
            <a:pPr lvl="1"/>
            <a:r>
              <a:rPr lang="id-ID" altLang="en-US" dirty="0"/>
              <a:t>Navigation</a:t>
            </a:r>
          </a:p>
          <a:p>
            <a:pPr lvl="1"/>
            <a:r>
              <a:rPr lang="id-ID" altLang="en-US" dirty="0"/>
              <a:t>Structure</a:t>
            </a:r>
          </a:p>
          <a:p>
            <a:pPr lvl="1"/>
            <a:r>
              <a:rPr lang="id-ID" altLang="en-US" dirty="0"/>
              <a:t>Links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7924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Textual Content</a:t>
            </a:r>
            <a:r>
              <a:rPr lang="id-ID" altLang="en-US" sz="2800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599075-0AC3-49A5-B07B-B3DEAA8CCED8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151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E65B60-4D32-4725-BFAA-D431B5516F69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Content</a:t>
            </a:r>
            <a:r>
              <a:rPr lang="id-ID" altLang="en-US" sz="1800" dirty="0"/>
              <a:t> yang ditampilkan dalam sebuah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memiliki nilai yang lebih penting dibandingkan desain dari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itu sendiri.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Informasi yang sesuai merupakan hal yang sangat penting dalam sebuah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b="1" dirty="0"/>
              <a:t>Hal yang perlu diperhatikan</a:t>
            </a:r>
            <a:r>
              <a:rPr lang="id-ID" altLang="en-US" sz="1800" dirty="0"/>
              <a:t>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Membaca pada monitor lebih lambat dibandingkan pada kertas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Mata relatif lebih cepat lelah saat membaca narasi yang panjang pada monitor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User</a:t>
            </a:r>
            <a:r>
              <a:rPr lang="id-ID" altLang="en-US" sz="1800" dirty="0"/>
              <a:t> cenderung hanya membaca header, highlights dan paragraf tertentu</a:t>
            </a:r>
            <a:endParaRPr lang="id-ID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0334E3-27DD-481F-9389-CC80A75FA5ED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253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11CFA7-3F72-4AD7-99AA-EE068935D35C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Tampilan grafis harus memperhatikan masalah konsistensi, susunan antara teks dan gambar, kontras, warna dan fungsionalitas dari gambar yang ditampilkan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b="1" dirty="0"/>
              <a:t>Hal yang perlu diperhatikan: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Pemilihan format gambar yang sesuai dan pertimbangan masalah ukuran file gambar yang akan mempengaruhi kecepatan akses dan waktu tunggu (</a:t>
            </a:r>
            <a:r>
              <a:rPr lang="id-ID" altLang="en-US" sz="1800" i="1" dirty="0"/>
              <a:t>delay</a:t>
            </a:r>
            <a:r>
              <a:rPr lang="id-ID" altLang="en-US" sz="1800" dirty="0"/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Menyesuaikan tampilan grafis dengan dimensi halaman website yang akan ditampilkan di layar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id-ID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71883" y="1392524"/>
            <a:ext cx="8229600" cy="558800"/>
          </a:xfrm>
        </p:spPr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805113"/>
            <a:ext cx="8229600" cy="3500437"/>
          </a:xfrm>
          <a:noFill/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Apabila monitor menampilkan resolusi 640 x 480 </a:t>
            </a:r>
            <a:r>
              <a:rPr lang="id-ID" altLang="en-US" sz="1800" i="1" dirty="0"/>
              <a:t>pixel</a:t>
            </a:r>
            <a:r>
              <a:rPr lang="id-ID" altLang="en-US" sz="1800" dirty="0"/>
              <a:t> maka dimensi rata-rata yang dapat digunakan untuk tampilan halaman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pada sebuah </a:t>
            </a:r>
            <a:r>
              <a:rPr lang="id-ID" altLang="en-US" sz="1800" i="1" dirty="0"/>
              <a:t>web browser</a:t>
            </a:r>
            <a:r>
              <a:rPr lang="id-ID" altLang="en-US" sz="1800" dirty="0"/>
              <a:t> yakni 595 x 295 pixel.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Dimensi umum yang digunakan untuk halaman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yaitu 800 x 640 </a:t>
            </a:r>
            <a:r>
              <a:rPr lang="id-ID" altLang="en-US" sz="1800" i="1" dirty="0"/>
              <a:t>pixel</a:t>
            </a:r>
            <a:r>
              <a:rPr lang="id-ID" altLang="en-US" sz="1800" dirty="0"/>
              <a:t>, untuk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dengan informasi yang sangat banyak dapat menggunakan ukuran yang lebih besar.</a:t>
            </a:r>
          </a:p>
        </p:txBody>
      </p:sp>
      <p:graphicFrame>
        <p:nvGraphicFramePr>
          <p:cNvPr id="23556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52865613"/>
              </p:ext>
            </p:extLst>
          </p:nvPr>
        </p:nvGraphicFramePr>
        <p:xfrm>
          <a:off x="4294188" y="1377536"/>
          <a:ext cx="4392612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" name="Bitmap Image" r:id="rId3" imgW="3495238" imgH="1162212" progId="Paint.Picture">
                  <p:embed/>
                </p:oleObj>
              </mc:Choice>
              <mc:Fallback>
                <p:oleObj name="Bitmap Image" r:id="rId3" imgW="3495238" imgH="1162212" progId="Paint.Picture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8" y="1377536"/>
                        <a:ext cx="4392612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000" i="1" dirty="0"/>
              <a:t>Graphic Design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Usahakan setiap halaman hanya menggunakan satu layar, hindari </a:t>
            </a:r>
            <a:r>
              <a:rPr lang="id-ID" altLang="en-US" sz="1800" i="1" dirty="0"/>
              <a:t>scrolling</a:t>
            </a:r>
            <a:r>
              <a:rPr lang="id-ID" altLang="en-US" sz="1800" dirty="0"/>
              <a:t> layar jika memungkinkan.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Jika tidak memungkinkan, scrolling hanya sesuai untuk </a:t>
            </a:r>
            <a:r>
              <a:rPr lang="id-ID" altLang="en-US" sz="1800" i="1" dirty="0"/>
              <a:t>content</a:t>
            </a:r>
            <a:r>
              <a:rPr lang="id-ID" altLang="en-US" sz="1800" dirty="0"/>
              <a:t>, hindari </a:t>
            </a:r>
            <a:r>
              <a:rPr lang="id-ID" altLang="en-US" sz="1800" i="1" dirty="0"/>
              <a:t>scrolling</a:t>
            </a:r>
            <a:r>
              <a:rPr lang="id-ID" altLang="en-US" sz="1800" dirty="0"/>
              <a:t> untuk halaman navigasi. Gunakan </a:t>
            </a:r>
            <a:r>
              <a:rPr lang="id-ID" altLang="en-US" sz="1800" i="1" dirty="0"/>
              <a:t>scrolling</a:t>
            </a:r>
            <a:r>
              <a:rPr lang="id-ID" altLang="en-US" sz="1800" dirty="0"/>
              <a:t> layar ke atas/bawah, jangan ke samping (kiri/kanan).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Letakkan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yang penting pada bagian atas halaman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Adopsi tren yang relevan untuk diterapkan, misalnya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Accordeon</a:t>
            </a:r>
            <a:r>
              <a:rPr lang="id-ID" altLang="en-US" sz="1800" dirty="0"/>
              <a:t>, untuk meringkas konten sesuai pilihan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Burger menu</a:t>
            </a:r>
            <a:r>
              <a:rPr lang="id-ID" altLang="en-US" sz="1800" dirty="0"/>
              <a:t>, untuk meringkas daftar menu yang terlalu banyak tulisan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id-ID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EA292B-B9FE-4079-8DB8-060D0152F871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458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4CE578-BDD1-40E0-8423-587B479A3ABE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23528" y="2204864"/>
            <a:ext cx="3816424" cy="3671888"/>
          </a:xfrm>
        </p:spPr>
        <p:txBody>
          <a:bodyPr/>
          <a:lstStyle/>
          <a:p>
            <a:pPr eaLnBrk="1" hangingPunct="1"/>
            <a:r>
              <a:rPr lang="id-ID" altLang="en-US" dirty="0"/>
              <a:t>Meskipun monitor telah mampu menampilkan jutaan warna, namun hanya 216 warna yang biasa digunakan untuk aktivitas </a:t>
            </a:r>
            <a:r>
              <a:rPr lang="id-ID" altLang="en-US" i="1" dirty="0"/>
              <a:t>browsing</a:t>
            </a:r>
            <a:r>
              <a:rPr lang="id-ID" altLang="en-US" dirty="0"/>
              <a:t>.</a:t>
            </a:r>
          </a:p>
        </p:txBody>
      </p:sp>
      <p:pic>
        <p:nvPicPr>
          <p:cNvPr id="25633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97994"/>
            <a:ext cx="4114428" cy="45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25144" y="6073238"/>
            <a:ext cx="29642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1100" dirty="0"/>
              <a:t>Sumber </a:t>
            </a:r>
            <a:r>
              <a:rPr lang="id-ID" sz="1100" b="1" dirty="0"/>
              <a:t>webdesignstutorial.blogspot.com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6DCC18-E079-43D9-8F6C-556468E669EE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B80E8-87EB-44F5-9EB2-FD24F4256E2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7800" y="1719026"/>
            <a:ext cx="8642672" cy="4230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39872" y="6093296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100" dirty="0"/>
              <a:t>Sumber </a:t>
            </a:r>
            <a:r>
              <a:rPr lang="id-ID" sz="1100" b="1" dirty="0"/>
              <a:t>color.adobe.com</a:t>
            </a:r>
          </a:p>
        </p:txBody>
      </p:sp>
    </p:spTree>
    <p:extLst>
      <p:ext uri="{BB962C8B-B14F-4D97-AF65-F5344CB8AC3E}">
        <p14:creationId xmlns:p14="http://schemas.microsoft.com/office/powerpoint/2010/main" val="375563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Dimana letak perbedaannya?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6DCC18-E079-43D9-8F6C-556468E669EE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B80E8-87EB-44F5-9EB2-FD24F4256E2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31746" name="Picture 2" descr="C:\Users\A S U S\Documents\blu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296415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7" name="Picture 3" descr="C:\Users\A S U S\Documents\gree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132856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C:\Users\A S U S\Documents\r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032" y="4296415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9" name="Picture 5" descr="C:\Users\A S U S\Documents\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72" y="2132856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39872" y="6093296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100" dirty="0"/>
              <a:t>Sumber </a:t>
            </a:r>
            <a:r>
              <a:rPr lang="id-ID" sz="1100" b="1" dirty="0"/>
              <a:t>http://ingridsundberg.com/2014/02/04/the-color-thesaurus</a:t>
            </a:r>
            <a:r>
              <a:rPr lang="id-ID" sz="11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7773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Pemilihan format file gambar yang sesuai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GIF – Graphic Interchange Format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Compressed, lossless format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8-bit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Keuntungan: memungkinkan warna transparan dan animasi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Cocok untuk icon atau gambar dengan warna yang solid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JPEG – Joint Photographic Expert’s Group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Compressed, lossy, 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24-bit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Keuntungan: memungkinkan memilih faktor kompresi dan menentukan kualitas gambar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Cocok untuk fotografi dan gambar dengan warna kompleks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PNG – New Universal Format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Seperti halnya </a:t>
            </a: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JPEG</a:t>
            </a:r>
            <a:endParaRPr lang="en-ID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Lebih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unggul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untuk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menampilkan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warna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transaran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dibandingka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JPEG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dan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GIF</a:t>
            </a:r>
            <a:endParaRPr lang="id-ID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5F48E-D5A6-43A0-9425-6330409B7BE2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663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6D1549-EBF9-4A8B-9D8F-BA8B42123AE3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200" i="1" dirty="0"/>
              <a:t>Navigation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d-ID" altLang="en-US" sz="2000" dirty="0"/>
              <a:t>Navigasi merupakan elemen kritis dalam menentukan efektivitas antarmuka sebuah </a:t>
            </a:r>
            <a:r>
              <a:rPr lang="id-ID" altLang="en-US" sz="2000" i="1" dirty="0"/>
              <a:t>website</a:t>
            </a:r>
          </a:p>
          <a:p>
            <a:pPr eaLnBrk="1" hangingPunct="1"/>
            <a:r>
              <a:rPr lang="id-ID" altLang="en-US" sz="2000" dirty="0"/>
              <a:t>Navigasi harus memberikan penjelasan tentang struktur informasi pada website, dengan menyediakan:</a:t>
            </a:r>
          </a:p>
          <a:p>
            <a:pPr lvl="1" eaLnBrk="1" hangingPunct="1"/>
            <a:r>
              <a:rPr lang="id-ID" altLang="en-US" sz="2000" dirty="0"/>
              <a:t>Daftar isi (</a:t>
            </a:r>
            <a:r>
              <a:rPr lang="id-ID" altLang="en-US" sz="2000" i="1" dirty="0"/>
              <a:t>site map</a:t>
            </a:r>
            <a:r>
              <a:rPr lang="id-ID" altLang="en-US" sz="2000" dirty="0"/>
              <a:t>)</a:t>
            </a:r>
          </a:p>
          <a:p>
            <a:pPr lvl="1" eaLnBrk="1" hangingPunct="1"/>
            <a:r>
              <a:rPr lang="id-ID" altLang="en-US" sz="2000" i="1" dirty="0"/>
              <a:t>Index</a:t>
            </a:r>
          </a:p>
          <a:p>
            <a:pPr lvl="1" eaLnBrk="1" hangingPunct="1"/>
            <a:r>
              <a:rPr lang="id-ID" altLang="en-US" sz="2000" i="1" dirty="0"/>
              <a:t>Navigation bar</a:t>
            </a:r>
          </a:p>
          <a:p>
            <a:pPr lvl="1" eaLnBrk="1" hangingPunct="1"/>
            <a:r>
              <a:rPr lang="id-ID" altLang="en-US" sz="2000" dirty="0"/>
              <a:t>Kemampuan </a:t>
            </a:r>
            <a:r>
              <a:rPr lang="id-ID" altLang="en-US" sz="2000" i="1" dirty="0"/>
              <a:t>Searching</a:t>
            </a:r>
          </a:p>
          <a:p>
            <a:pPr eaLnBrk="1" hangingPunct="1"/>
            <a:endParaRPr lang="id-ID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75F03F-6CE2-4D66-9D5F-7993D00CB341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765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78EC9A-E71C-4FEB-B2F1-F955CCD9284C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349325"/>
            <a:ext cx="8229600" cy="558800"/>
          </a:xfrm>
        </p:spPr>
        <p:txBody>
          <a:bodyPr/>
          <a:lstStyle/>
          <a:p>
            <a:pPr eaLnBrk="1" hangingPunct="1"/>
            <a:r>
              <a:rPr lang="id-ID" altLang="en-US" sz="2800" i="1" dirty="0"/>
              <a:t>Structure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916832"/>
            <a:ext cx="7417073" cy="4032300"/>
          </a:xfrm>
        </p:spPr>
        <p:txBody>
          <a:bodyPr/>
          <a:lstStyle/>
          <a:p>
            <a:pPr eaLnBrk="1" hangingPunct="1"/>
            <a:r>
              <a:rPr lang="id-ID" altLang="en-US" dirty="0"/>
              <a:t>Struktur </a:t>
            </a:r>
            <a:r>
              <a:rPr lang="id-ID" altLang="en-US" i="1" dirty="0"/>
              <a:t>website</a:t>
            </a:r>
            <a:r>
              <a:rPr lang="id-ID" altLang="en-US" dirty="0"/>
              <a:t> yang diperhatikan:</a:t>
            </a:r>
          </a:p>
          <a:p>
            <a:pPr lvl="1" eaLnBrk="1" hangingPunct="1"/>
            <a:r>
              <a:rPr lang="id-ID" altLang="en-US" sz="2000" i="1" dirty="0"/>
              <a:t>Connectivity and compactness</a:t>
            </a:r>
          </a:p>
          <a:p>
            <a:pPr lvl="1" eaLnBrk="1" hangingPunct="1"/>
            <a:r>
              <a:rPr lang="id-ID" altLang="en-US" sz="2000" i="1" dirty="0"/>
              <a:t>Branching factor</a:t>
            </a:r>
          </a:p>
          <a:p>
            <a:pPr lvl="1" eaLnBrk="1" hangingPunct="1"/>
            <a:r>
              <a:rPr lang="id-ID" altLang="en-US" sz="2000" i="1" dirty="0"/>
              <a:t>Page length</a:t>
            </a:r>
          </a:p>
          <a:p>
            <a:pPr lvl="1" eaLnBrk="1" hangingPunct="1"/>
            <a:r>
              <a:rPr lang="id-ID" altLang="en-US" sz="2000" i="1" dirty="0"/>
              <a:t>Number of links</a:t>
            </a:r>
          </a:p>
          <a:p>
            <a:pPr eaLnBrk="1" hangingPunct="1"/>
            <a:endParaRPr lang="id-ID" altLang="en-US" sz="2000" dirty="0"/>
          </a:p>
        </p:txBody>
      </p:sp>
      <p:pic>
        <p:nvPicPr>
          <p:cNvPr id="28700" name="Picture 2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503512"/>
            <a:ext cx="569595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200" i="1" dirty="0"/>
              <a:t>Structure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id-ID" altLang="en-US" sz="1800" i="1" dirty="0"/>
              <a:t>Homepage</a:t>
            </a:r>
            <a:r>
              <a:rPr lang="id-ID" altLang="en-US" sz="1800" dirty="0"/>
              <a:t> merupakan halaman yang terpenting dalam </a:t>
            </a:r>
            <a:r>
              <a:rPr lang="id-ID" altLang="en-US" sz="1800" i="1" dirty="0"/>
              <a:t>website</a:t>
            </a:r>
          </a:p>
          <a:p>
            <a:pPr algn="just" eaLnBrk="1" hangingPunct="1"/>
            <a:r>
              <a:rPr lang="id-ID" altLang="en-US" sz="1800" dirty="0"/>
              <a:t>Berikan tampilan yang menarik pada homepage dan penjelasan tentang informasi apa saja yang dapat ditemukan pada </a:t>
            </a:r>
            <a:r>
              <a:rPr lang="id-ID" altLang="en-US" sz="1800" i="1" dirty="0"/>
              <a:t>website</a:t>
            </a:r>
          </a:p>
          <a:p>
            <a:pPr algn="just" eaLnBrk="1" hangingPunct="1"/>
            <a:r>
              <a:rPr lang="id-ID" altLang="en-US" sz="1800" dirty="0"/>
              <a:t>Tampilkan beberapa </a:t>
            </a:r>
            <a:r>
              <a:rPr lang="id-ID" altLang="en-US" sz="1800" i="1" dirty="0"/>
              <a:t>real content</a:t>
            </a:r>
            <a:r>
              <a:rPr lang="id-ID" altLang="en-US" sz="1800" dirty="0"/>
              <a:t> maupun berita aktual pada </a:t>
            </a:r>
            <a:r>
              <a:rPr lang="id-ID" altLang="en-US" sz="1800" i="1" dirty="0"/>
              <a:t>homepage</a:t>
            </a:r>
          </a:p>
          <a:p>
            <a:pPr algn="just" eaLnBrk="1" hangingPunct="1"/>
            <a:r>
              <a:rPr lang="id-ID" altLang="en-US" sz="1800" dirty="0"/>
              <a:t>Jika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yang dibuat pada </a:t>
            </a:r>
            <a:r>
              <a:rPr lang="id-ID" altLang="en-US" sz="1800" i="1" dirty="0"/>
              <a:t>homepage</a:t>
            </a:r>
            <a:r>
              <a:rPr lang="id-ID" altLang="en-US" sz="1800" dirty="0"/>
              <a:t> menggunakan gambar, maka berikan pula label berupa teks</a:t>
            </a:r>
          </a:p>
          <a:p>
            <a:pPr algn="just" eaLnBrk="1" hangingPunct="1"/>
            <a:r>
              <a:rPr lang="id-ID" altLang="en-US" sz="1800" dirty="0"/>
              <a:t>Tampilkan informasi dinamis pada </a:t>
            </a:r>
            <a:r>
              <a:rPr lang="id-ID" altLang="en-US" sz="1800" i="1" dirty="0"/>
              <a:t>homepage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50310E-EF55-4242-B877-B53CDFE51878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297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8CCEE6-9D69-49D1-9C99-955F776E0E45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Links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Link</a:t>
            </a:r>
            <a:r>
              <a:rPr lang="id-ID" altLang="en-US" sz="1800" dirty="0"/>
              <a:t> sama seperti gaya dialog </a:t>
            </a:r>
            <a:r>
              <a:rPr lang="id-ID" altLang="en-US" sz="1800" i="1" dirty="0"/>
              <a:t>buttons</a:t>
            </a:r>
            <a:r>
              <a:rPr lang="id-ID" altLang="en-US" sz="1800" dirty="0"/>
              <a:t>, harus memberikan penjelasan tentang apa yang dapat dilakukan pada halaman berikutnya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Sebuah link yang baik berpedoman pada: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Bagaimana </a:t>
            </a:r>
            <a:r>
              <a:rPr lang="id-ID" altLang="en-US" sz="1800" i="1" dirty="0"/>
              <a:t>user</a:t>
            </a:r>
            <a:r>
              <a:rPr lang="id-ID" altLang="en-US" sz="1800" dirty="0"/>
              <a:t> dapat memprediksi tujuan sebuah </a:t>
            </a:r>
            <a:r>
              <a:rPr lang="id-ID" altLang="en-US" sz="1800" i="1" dirty="0"/>
              <a:t>link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Bagaimana </a:t>
            </a:r>
            <a:r>
              <a:rPr lang="id-ID" altLang="en-US" sz="1800" i="1" dirty="0"/>
              <a:t>user</a:t>
            </a:r>
            <a:r>
              <a:rPr lang="id-ID" altLang="en-US" sz="1800" dirty="0"/>
              <a:t> dapat membedakan antara sebuah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dengan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lainnya yang memiliki kemiripan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Sesuai tidaknya </a:t>
            </a:r>
            <a:r>
              <a:rPr lang="id-ID" altLang="en-US" sz="1800" i="1" dirty="0"/>
              <a:t>content</a:t>
            </a:r>
            <a:r>
              <a:rPr lang="id-ID" altLang="en-US" sz="1800" dirty="0"/>
              <a:t> yang ditampilkan oleh </a:t>
            </a:r>
            <a:r>
              <a:rPr lang="id-ID" altLang="en-US" sz="1800" i="1" dirty="0"/>
              <a:t>link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Pastikan semua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pada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dapat bekerja sesuai dengan fungsi masing-masing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FAC85E-DBC3-43FD-9A5A-B999A3ED5894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3072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BEECF8-6588-41A7-B235-39E5B6663B85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200"/>
              <a:t>Links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Hati-hati terhadap penggunaan kata “here”/”disini” pada sebuah link: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Klik </a:t>
            </a:r>
            <a:r>
              <a:rPr lang="id-ID" sz="2000" u="sng" dirty="0">
                <a:solidFill>
                  <a:srgbClr val="0066FF"/>
                </a:solidFill>
              </a:rPr>
              <a:t>disini</a:t>
            </a: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untuk menampilkan Artikel.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Dapatkan informasi detail pada </a:t>
            </a:r>
            <a:r>
              <a:rPr lang="id-ID" sz="2000" u="sng" dirty="0">
                <a:solidFill>
                  <a:srgbClr val="0066FF"/>
                </a:solidFill>
              </a:rPr>
              <a:t>Artikel</a:t>
            </a: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Penulisan sebuah link harus pada satu baris yang sama.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Profil Kota Bandung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Kawasan Wisata di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Kota Bandung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Informasi Hotel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3 atau 4 link?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id-ID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9387AA-172B-424A-85D1-7F7A5C37F7CB}" type="datetime1">
              <a:rPr lang="en-US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3175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504551-8FB6-4478-AF5E-D793B60739F3}" type="slidenum">
              <a:rPr lang="en-US" altLang="en-US" smtClean="0">
                <a:solidFill>
                  <a:schemeClr val="accent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Interaksi</a:t>
            </a:r>
            <a:r>
              <a:rPr lang="en-US" dirty="0" smtClean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smtClean="0"/>
              <a:t>IMK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KK SIDE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810B14A-F91A-4704-A095-D5BFA9CD6BC4}" type="datetime1">
              <a:rPr lang="en-US" smtClean="0">
                <a:solidFill>
                  <a:prstClr val="black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FA0FCE97-1E5D-3942-9893-29D29393C492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14800" y="3350983"/>
            <a:ext cx="4599295" cy="187743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+mj-lt"/>
              </a:rPr>
              <a:t>THE USER INTERFACE (UI)</a:t>
            </a:r>
            <a:br>
              <a:rPr lang="en-US" sz="2400" b="1" dirty="0">
                <a:solidFill>
                  <a:prstClr val="black"/>
                </a:solidFill>
                <a:latin typeface="+mj-lt"/>
              </a:rPr>
            </a:br>
            <a:r>
              <a:rPr lang="en-US" sz="2400" b="1" dirty="0">
                <a:solidFill>
                  <a:prstClr val="black"/>
                </a:solidFill>
                <a:latin typeface="+mj-lt"/>
              </a:rPr>
              <a:t>DESIGN PROCESS</a:t>
            </a:r>
          </a:p>
          <a:p>
            <a:endParaRPr lang="en-US" sz="20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id-ID" altLang="en-US" sz="1600" b="1" dirty="0">
                <a:solidFill>
                  <a:prstClr val="black"/>
                </a:solidFill>
                <a:latin typeface="Verdana"/>
              </a:rPr>
              <a:t>Mobile Device User Interface</a:t>
            </a:r>
            <a:endParaRPr lang="en-US" sz="1600" b="1" dirty="0">
              <a:solidFill>
                <a:prstClr val="black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1776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noProof="1"/>
              <a:t>Setelah mengikuti materi ini mahasiswa dapat:</a:t>
            </a:r>
            <a:endParaRPr lang="id-ID" noProof="1"/>
          </a:p>
          <a:p>
            <a:pPr lvl="1"/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UI </a:t>
            </a:r>
            <a:r>
              <a:rPr lang="en-US" dirty="0" err="1"/>
              <a:t>berbasis</a:t>
            </a:r>
            <a:r>
              <a:rPr lang="en-US" dirty="0"/>
              <a:t> web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bergerak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658763B6-FBED-4767-BE92-4C246710F673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22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AFFB95F8-D7AD-4BB9-93D1-AF7E9DF00579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6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8784A38-73C6-499C-8E20-74ADE705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D2D81-EBF3-4866-9FD1-524A604B65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81" y="3108380"/>
            <a:ext cx="8326438" cy="641239"/>
          </a:xfrm>
        </p:spPr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80996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Mobile Device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57EAC3-C8AB-4A02-B4C1-5A69806A2CAA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270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A39870-EAB2-462D-9469-639AD3306696}" type="slidenum">
              <a:rPr lang="en-US" altLang="en-US" smtClean="0">
                <a:solidFill>
                  <a:srgbClr val="0066A1"/>
                </a:solidFill>
              </a:rPr>
              <a:pPr/>
              <a:t>24</a:t>
            </a:fld>
            <a:endParaRPr lang="en-US" altLang="en-US">
              <a:solidFill>
                <a:srgbClr val="0066A1"/>
              </a:solidFill>
            </a:endParaRPr>
          </a:p>
        </p:txBody>
      </p:sp>
      <p:pic>
        <p:nvPicPr>
          <p:cNvPr id="26626" name="Picture 2" descr="Hasil gambar untuk mobile phone and tabl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348880"/>
            <a:ext cx="5478215" cy="369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12160" y="5888305"/>
            <a:ext cx="2520280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Sumber </a:t>
            </a:r>
            <a:r>
              <a:rPr lang="id-ID" sz="1200" b="1" dirty="0"/>
              <a:t>thedroidguy.com</a:t>
            </a:r>
          </a:p>
        </p:txBody>
      </p:sp>
    </p:spTree>
    <p:extLst>
      <p:ext uri="{BB962C8B-B14F-4D97-AF65-F5344CB8AC3E}">
        <p14:creationId xmlns:p14="http://schemas.microsoft.com/office/powerpoint/2010/main" val="1091128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1C3AEA-4BB7-4702-AB2C-7242598B2B16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15F2A9-7083-4189-AA09-2CB48969CCAC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25</a:t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3528" y="1485488"/>
            <a:ext cx="8442042" cy="4778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96136" y="5991091"/>
            <a:ext cx="12170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900" dirty="0"/>
              <a:t>Sumber APJII, 2016</a:t>
            </a:r>
          </a:p>
        </p:txBody>
      </p:sp>
    </p:spTree>
    <p:extLst>
      <p:ext uri="{BB962C8B-B14F-4D97-AF65-F5344CB8AC3E}">
        <p14:creationId xmlns:p14="http://schemas.microsoft.com/office/powerpoint/2010/main" val="184253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8784A38-73C6-499C-8E20-74ADE705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D2D81-EBF3-4866-9FD1-524A604B65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81" y="3108380"/>
            <a:ext cx="8326438" cy="641239"/>
          </a:xfrm>
        </p:spPr>
        <p:txBody>
          <a:bodyPr/>
          <a:lstStyle/>
          <a:p>
            <a:pPr algn="ctr"/>
            <a:r>
              <a:rPr lang="en-US" dirty="0"/>
              <a:t>Mobile User Interface Principles</a:t>
            </a:r>
          </a:p>
        </p:txBody>
      </p:sp>
    </p:spTree>
    <p:extLst>
      <p:ext uri="{BB962C8B-B14F-4D97-AF65-F5344CB8AC3E}">
        <p14:creationId xmlns:p14="http://schemas.microsoft.com/office/powerpoint/2010/main" val="829414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5" y="1336417"/>
            <a:ext cx="8326438" cy="940455"/>
          </a:xfrm>
        </p:spPr>
        <p:txBody>
          <a:bodyPr/>
          <a:lstStyle/>
          <a:p>
            <a:r>
              <a:rPr lang="id-ID" altLang="en-US" sz="2800" dirty="0"/>
              <a:t>Apa yang Berbeda pada Perangkat Mobile?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>
          <a:xfrm>
            <a:off x="405121" y="2397042"/>
            <a:ext cx="8326438" cy="3768262"/>
          </a:xfrm>
        </p:spPr>
        <p:txBody>
          <a:bodyPr/>
          <a:lstStyle/>
          <a:p>
            <a:r>
              <a:rPr lang="id-ID" altLang="en-US" sz="1800" dirty="0"/>
              <a:t>Perbedaan </a:t>
            </a:r>
            <a:r>
              <a:rPr lang="id-ID" altLang="en-US" sz="1800" i="1" dirty="0"/>
              <a:t>input</a:t>
            </a:r>
          </a:p>
          <a:p>
            <a:pPr lvl="1"/>
            <a:r>
              <a:rPr lang="id-ID" altLang="en-US" sz="1800" i="1" dirty="0"/>
              <a:t>One-handed, keypad, camera, pens, soft keyboard</a:t>
            </a:r>
          </a:p>
          <a:p>
            <a:r>
              <a:rPr lang="id-ID" altLang="en-US" sz="1800" dirty="0"/>
              <a:t>Digunakan pada tempat berbeda-beda</a:t>
            </a:r>
          </a:p>
          <a:p>
            <a:r>
              <a:rPr lang="id-ID" altLang="en-US" sz="1800" i="1" dirty="0"/>
              <a:t>Power</a:t>
            </a:r>
            <a:r>
              <a:rPr lang="id-ID" altLang="en-US" sz="1800" dirty="0"/>
              <a:t>/daya energi yang terbatas</a:t>
            </a:r>
          </a:p>
          <a:p>
            <a:r>
              <a:rPr lang="id-ID" altLang="en-US" sz="1800" dirty="0"/>
              <a:t>Mudah rusak</a:t>
            </a:r>
          </a:p>
          <a:p>
            <a:r>
              <a:rPr lang="id-ID" altLang="en-US" sz="1800" i="1" dirty="0"/>
              <a:t>Bandwidth</a:t>
            </a:r>
            <a:r>
              <a:rPr lang="id-ID" altLang="en-US" sz="1800" dirty="0"/>
              <a:t> yang rendah</a:t>
            </a:r>
          </a:p>
          <a:p>
            <a:r>
              <a:rPr lang="id-ID" altLang="en-US" sz="1800" dirty="0"/>
              <a:t>Layar yang kecil</a:t>
            </a:r>
          </a:p>
          <a:p>
            <a:r>
              <a:rPr lang="id-ID" altLang="en-US" sz="1800" dirty="0"/>
              <a:t>Sangat mungkin muncul desain interaksi baru dalam waktu dekat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AD10D6-6BAB-4145-BC8C-6AFB377DA30A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29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AE176E-4112-4D36-9E7C-E1B336C0FD09}" type="slidenum">
              <a:rPr lang="en-US" altLang="en-US" smtClean="0">
                <a:solidFill>
                  <a:srgbClr val="0066A1"/>
                </a:solidFill>
              </a:rPr>
              <a:pPr/>
              <a:t>27</a:t>
            </a:fld>
            <a:endParaRPr lang="en-US" altLang="en-US">
              <a:solidFill>
                <a:srgbClr val="0066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33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 i="1" dirty="0"/>
              <a:t>Interface</a:t>
            </a:r>
            <a:r>
              <a:rPr lang="id-ID" altLang="en-US" sz="3200" dirty="0"/>
              <a:t> Perangkat Mobile [1]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2187206"/>
            <a:ext cx="8326438" cy="4054844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Memungkinkan pemakai menggunakan </a:t>
            </a:r>
            <a:r>
              <a:rPr lang="id-ID" altLang="en-US" sz="1800" i="1" dirty="0"/>
              <a:t>shortcut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Pemakai cenderung lebih suka mengurangi jumlah interaksi.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Pengurangan jumlah operasi untuk melakukan aktivitas.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Shortcut</a:t>
            </a:r>
            <a:r>
              <a:rPr lang="id-ID" altLang="en-US" sz="1800" dirty="0"/>
              <a:t> untuk memudahkan pengoperasian fungsi tertentu.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Tombol yang mudah digunakan.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Menawarkan umpan balik informasi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Terdapan umpan balik atas setiap tindakan/aksi, misalnya dengan suara beep ketika tombol ditekan atau terjadi kesalahan.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Umpan balik harus mudah dipahami oleh pengguna.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C6A797-03ED-4E7D-9AE0-BC7C4343B80F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31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8B74B4-66A1-4B48-860D-69E406B6962D}" type="slidenum">
              <a:rPr lang="en-US" altLang="en-US" smtClean="0">
                <a:solidFill>
                  <a:srgbClr val="0066A1"/>
                </a:solidFill>
              </a:rPr>
              <a:pPr/>
              <a:t>28</a:t>
            </a:fld>
            <a:endParaRPr lang="en-US" altLang="en-US">
              <a:solidFill>
                <a:srgbClr val="0066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73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 i="1" dirty="0"/>
              <a:t>Interface</a:t>
            </a:r>
            <a:r>
              <a:rPr lang="id-ID" altLang="en-US" sz="3200" dirty="0"/>
              <a:t> Perangkat Mobile [2]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2187206"/>
            <a:ext cx="8326438" cy="4054844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Mendesain dialog yang mudah digunakan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Urutan aksi dan fungsionalitas sistem harus diorganisasikan dalam grup/kategori.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Pemakai akan lebih nyaman jika menemukan gaya dialog yang sama antara penggunaan PC dengan perangkat </a:t>
            </a:r>
            <a:r>
              <a:rPr lang="id-ID" altLang="en-US" sz="1800" i="1" dirty="0"/>
              <a:t>mobile</a:t>
            </a:r>
            <a:r>
              <a:rPr lang="id-ID" altLang="en-US" sz="18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Mendukung kendali internal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Pemakai akan lebih suka apabila sistem memberikan respon terhadap aksi mereka, daripada sistem yang mengontrol mereka.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id-ID" alt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C6A797-03ED-4E7D-9AE0-BC7C4343B80F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31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8B74B4-66A1-4B48-860D-69E406B6962D}" type="slidenum">
              <a:rPr lang="en-US" altLang="en-US" smtClean="0">
                <a:solidFill>
                  <a:srgbClr val="0066A1"/>
                </a:solidFill>
              </a:rPr>
              <a:pPr/>
              <a:t>29</a:t>
            </a:fld>
            <a:endParaRPr lang="en-US" altLang="en-US">
              <a:solidFill>
                <a:srgbClr val="0066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33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/>
              <a:t>Hal yang Diperhatikan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FBDF60-E325-42B7-AB08-58A8BC23AA27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4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FFEBDD-FA10-42B9-BA80-1E94904CAADF}" type="slidenum">
              <a:rPr lang="en-US" altLang="en-US" smtClean="0">
                <a:solidFill>
                  <a:srgbClr val="0066A1"/>
                </a:solidFill>
              </a:rPr>
              <a:pPr/>
              <a:t>30</a:t>
            </a:fld>
            <a:endParaRPr lang="en-US" altLang="en-US">
              <a:solidFill>
                <a:srgbClr val="0066A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Gaya dialog yang memungkinkan penggunaan layar yang terbatas.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Konsistensi</a:t>
            </a: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Tampilan dan gaya dialog suatu aplikasi harus sama pada lintas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platform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maupun ketika ditampilkan pada perangkat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mobile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yang berbeda-beda.</a:t>
            </a: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Mobile device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harus dibekali dengan kemampuan metodologi I/O ketika menampilkan sebuah dokumen untuk menjaga konsistensi ketika ditampilkan pada mesin/komputer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desktop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dan perangkat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mobile 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itu sendiri.</a:t>
            </a:r>
          </a:p>
          <a:p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3981599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/>
              <a:t>Hal yang Diperhatikan (lanjutan)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72433C-3DA4-45F5-BA7B-2F78899E535D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46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8DE77F-B62F-4C12-A027-FCAB8C3174EF}" type="slidenum">
              <a:rPr lang="en-US" altLang="en-US" smtClean="0">
                <a:solidFill>
                  <a:srgbClr val="0066A1"/>
                </a:solidFill>
              </a:rPr>
              <a:pPr/>
              <a:t>31</a:t>
            </a:fld>
            <a:endParaRPr lang="en-US" altLang="en-US">
              <a:solidFill>
                <a:srgbClr val="0066A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d-ID" altLang="en-US" sz="1800" dirty="0"/>
              <a:t>Pencegahan kesalahan dengan error handling yang sederhana	</a:t>
            </a:r>
          </a:p>
          <a:p>
            <a:pPr>
              <a:lnSpc>
                <a:spcPct val="150000"/>
              </a:lnSpc>
            </a:pPr>
            <a:r>
              <a:rPr lang="id-ID" altLang="en-US" sz="1800" dirty="0"/>
              <a:t>Efisiensi dan optimasi penggunaan memori internal</a:t>
            </a:r>
          </a:p>
          <a:p>
            <a:pPr lvl="1">
              <a:lnSpc>
                <a:spcPct val="150000"/>
              </a:lnSpc>
            </a:pPr>
            <a:r>
              <a:rPr lang="id-ID" altLang="en-US" sz="1800" dirty="0"/>
              <a:t>Aplikasi mobile device harus memiliki desain antarmuka yang menggunakan memori sangat kecil selama menjalankan berbagai tugas</a:t>
            </a:r>
          </a:p>
          <a:p>
            <a:pPr>
              <a:lnSpc>
                <a:spcPct val="150000"/>
              </a:lnSpc>
            </a:pPr>
            <a:r>
              <a:rPr lang="id-ID" altLang="en-US" sz="1800" dirty="0"/>
              <a:t>Stabilitas koneksi jaringan dan pemanfaatan akses jaringan yang seminimal mungkin.</a:t>
            </a:r>
          </a:p>
          <a:p>
            <a:pPr>
              <a:lnSpc>
                <a:spcPct val="150000"/>
              </a:lnSpc>
            </a:pP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2079056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4" y="1336417"/>
            <a:ext cx="8455347" cy="641239"/>
          </a:xfrm>
        </p:spPr>
        <p:txBody>
          <a:bodyPr/>
          <a:lstStyle/>
          <a:p>
            <a:r>
              <a:rPr lang="id-ID" altLang="en-US" sz="2400" dirty="0"/>
              <a:t>Prinsip Desain Antarmuka Perangkat </a:t>
            </a:r>
            <a:r>
              <a:rPr lang="id-ID" altLang="en-US" sz="2400" i="1" dirty="0"/>
              <a:t>Mobile</a:t>
            </a:r>
            <a:r>
              <a:rPr lang="id-ID" altLang="en-US" sz="2400" dirty="0"/>
              <a:t> [1]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683C81-B80D-4797-802D-BF2826C208D6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4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6E7510-B67B-46FD-81F8-8340254D6A50}" type="slidenum">
              <a:rPr lang="en-US" altLang="en-US" smtClean="0">
                <a:solidFill>
                  <a:srgbClr val="0066A1"/>
                </a:solidFill>
              </a:rPr>
              <a:pPr/>
              <a:t>32</a:t>
            </a:fld>
            <a:endParaRPr lang="en-US" altLang="en-US">
              <a:solidFill>
                <a:srgbClr val="0066A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konteks multiple dan dinamis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user mengatur konfigurasi yang diinginkan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pengoperasian dengan satu tangan/</a:t>
            </a:r>
            <a:r>
              <a:rPr lang="id-ID" sz="1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hand-free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aplikasi beradaptasi otomatis sesuai lingkungan kerja pemakai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perangkat dengan ukuran kecil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Memanfaatkan layar yang terbatas dengan menyusun fungsi berdasarkan urutan aktivitas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Menyediakan pemilihan huruf atau kata saat mengisikan teks</a:t>
            </a:r>
          </a:p>
        </p:txBody>
      </p:sp>
    </p:spTree>
    <p:extLst>
      <p:ext uri="{BB962C8B-B14F-4D97-AF65-F5344CB8AC3E}">
        <p14:creationId xmlns:p14="http://schemas.microsoft.com/office/powerpoint/2010/main" val="265141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4" y="1336417"/>
            <a:ext cx="8455347" cy="641239"/>
          </a:xfrm>
        </p:spPr>
        <p:txBody>
          <a:bodyPr/>
          <a:lstStyle/>
          <a:p>
            <a:r>
              <a:rPr lang="id-ID" altLang="en-US" sz="2400" dirty="0"/>
              <a:t>Prinsip Desain Antarmuka Perangkat </a:t>
            </a:r>
            <a:r>
              <a:rPr lang="id-ID" altLang="en-US" sz="2400" i="1" dirty="0"/>
              <a:t>Mobile</a:t>
            </a:r>
            <a:r>
              <a:rPr lang="id-ID" altLang="en-US" sz="2400" dirty="0"/>
              <a:t> [2]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683C81-B80D-4797-802D-BF2826C208D6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4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6E7510-B67B-46FD-81F8-8340254D6A50}" type="slidenum">
              <a:rPr lang="en-US" altLang="en-US" smtClean="0">
                <a:solidFill>
                  <a:srgbClr val="0066A1"/>
                </a:solidFill>
              </a:rPr>
              <a:pPr/>
              <a:t>33</a:t>
            </a:fld>
            <a:endParaRPr lang="en-US" altLang="en-US">
              <a:solidFill>
                <a:srgbClr val="0066A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dengan perhatian khusus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Menyediakan suara dan opsi keluaran sebagai umpan balik sistem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kecepatan dan </a:t>
            </a:r>
            <a:r>
              <a:rPr lang="id-ID" sz="1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recovery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aplikasi dihentikan, dimulai maupun dilanjutkan tanpa masalah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Aplikasi harus dapat berjalan cepat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interaksi </a:t>
            </a:r>
            <a:r>
              <a:rPr lang="id-ID" sz="1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top-down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Menampilkan struktur informasi yang dapat dipilih detail informasi mana saja yang akan ditampilkan</a:t>
            </a:r>
          </a:p>
        </p:txBody>
      </p:sp>
    </p:spTree>
    <p:extLst>
      <p:ext uri="{BB962C8B-B14F-4D97-AF65-F5344CB8AC3E}">
        <p14:creationId xmlns:p14="http://schemas.microsoft.com/office/powerpoint/2010/main" val="1145372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4" y="1336417"/>
            <a:ext cx="8455347" cy="641239"/>
          </a:xfrm>
        </p:spPr>
        <p:txBody>
          <a:bodyPr/>
          <a:lstStyle/>
          <a:p>
            <a:r>
              <a:rPr lang="id-ID" altLang="en-US" sz="2400" dirty="0"/>
              <a:t>Prinsip Desain Antarmuka Perangkat </a:t>
            </a:r>
            <a:r>
              <a:rPr lang="id-ID" altLang="en-US" sz="2400" i="1" dirty="0"/>
              <a:t>Mobile</a:t>
            </a:r>
            <a:r>
              <a:rPr lang="id-ID" altLang="en-US" sz="2400" dirty="0"/>
              <a:t> [3]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683C81-B80D-4797-802D-BF2826C208D6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4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6E7510-B67B-46FD-81F8-8340254D6A50}" type="slidenum">
              <a:rPr lang="en-US" altLang="en-US" smtClean="0">
                <a:solidFill>
                  <a:srgbClr val="0066A1"/>
                </a:solidFill>
              </a:rPr>
              <a:pPr/>
              <a:t>34</a:t>
            </a:fld>
            <a:endParaRPr lang="en-US" altLang="en-US">
              <a:solidFill>
                <a:srgbClr val="0066A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personalisasi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Menyediakan personalisasi aturan dan desain sesuai yang diinginkan pemakai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yang menyenangkan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Aplikasi harus memiliki tampilan yang menarik dan interaktif saat digunakan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2760277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>
          <a:xfrm>
            <a:off x="179512" y="1484784"/>
            <a:ext cx="2808312" cy="4396839"/>
          </a:xfrm>
        </p:spPr>
        <p:txBody>
          <a:bodyPr/>
          <a:lstStyle/>
          <a:p>
            <a:r>
              <a:rPr lang="id-ID" altLang="en-US" sz="2000" b="0" i="1" dirty="0"/>
              <a:t>Interface mobile</a:t>
            </a:r>
            <a:r>
              <a:rPr lang="id-ID" altLang="en-US" sz="2000" b="0" dirty="0"/>
              <a:t> </a:t>
            </a:r>
            <a:r>
              <a:rPr lang="id-ID" altLang="en-US" sz="2000" b="0" i="1" dirty="0"/>
              <a:t>device</a:t>
            </a:r>
            <a:r>
              <a:rPr lang="id-ID" altLang="en-US" sz="2000" b="0" dirty="0"/>
              <a:t> yang menggantikan </a:t>
            </a:r>
            <a:r>
              <a:rPr lang="id-ID" altLang="en-US" sz="2000" b="0" i="1" dirty="0"/>
              <a:t>keypad</a:t>
            </a:r>
            <a:r>
              <a:rPr lang="id-ID" altLang="en-US" sz="2000" b="0" dirty="0"/>
              <a:t> dengan </a:t>
            </a:r>
            <a:r>
              <a:rPr lang="id-ID" altLang="en-US" sz="2000" b="0" i="1" dirty="0"/>
              <a:t>touch screen</a:t>
            </a:r>
            <a:r>
              <a:rPr lang="id-ID" altLang="en-US" sz="2000" b="0" dirty="0"/>
              <a:t> berupa alfabet yang disusun melingkar.</a:t>
            </a:r>
            <a:br>
              <a:rPr lang="id-ID" altLang="en-US" sz="2000" b="0" dirty="0"/>
            </a:br>
            <a:r>
              <a:rPr lang="id-ID" altLang="en-US" sz="2000" b="0" dirty="0"/>
              <a:t/>
            </a:r>
            <a:br>
              <a:rPr lang="id-ID" altLang="en-US" sz="2000" b="0" dirty="0"/>
            </a:br>
            <a:r>
              <a:rPr lang="id-ID" altLang="en-US" sz="2000" b="0" dirty="0"/>
              <a:t>Sesuaikah </a:t>
            </a:r>
            <a:r>
              <a:rPr lang="id-ID" altLang="en-US" sz="2000" b="0" i="1" dirty="0" err="1"/>
              <a:t>interface</a:t>
            </a:r>
            <a:r>
              <a:rPr lang="id-ID" altLang="en-US" sz="2000" b="0" dirty="0"/>
              <a:t> ini?</a:t>
            </a:r>
            <a:r>
              <a:rPr lang="id-ID" altLang="en-US" b="0" dirty="0"/>
              <a:t/>
            </a:r>
            <a:br>
              <a:rPr lang="id-ID" altLang="en-US" b="0" dirty="0"/>
            </a:br>
            <a:endParaRPr lang="en-US" altLang="en-US" b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65263B-F126-4724-9F5F-20500244929F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53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075315-831D-484D-864D-8B520F3CD1E7}" type="slidenum">
              <a:rPr lang="en-US" altLang="en-US" smtClean="0">
                <a:solidFill>
                  <a:srgbClr val="0066A1"/>
                </a:solidFill>
              </a:rPr>
              <a:pPr/>
              <a:t>35</a:t>
            </a:fld>
            <a:endParaRPr lang="en-US" altLang="en-US">
              <a:solidFill>
                <a:srgbClr val="0066A1"/>
              </a:solidFill>
            </a:endParaRPr>
          </a:p>
        </p:txBody>
      </p:sp>
      <p:pic>
        <p:nvPicPr>
          <p:cNvPr id="5" name="16. ketik.wmv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13248" y="1484784"/>
            <a:ext cx="5856078" cy="4392488"/>
          </a:xfrm>
        </p:spPr>
      </p:pic>
    </p:spTree>
    <p:extLst>
      <p:ext uri="{BB962C8B-B14F-4D97-AF65-F5344CB8AC3E}">
        <p14:creationId xmlns:p14="http://schemas.microsoft.com/office/powerpoint/2010/main" val="40386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8784A38-73C6-499C-8E20-74ADE705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D2D81-EBF3-4866-9FD1-524A604B65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BD954D7A-8DFF-4CEB-9984-B5DF8AB20F7B}" type="datetime1">
              <a:rPr lang="en-US" smtClean="0"/>
              <a:pPr>
                <a:defRPr/>
              </a:pPr>
              <a:t>8/13/2020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81" y="3108380"/>
            <a:ext cx="8326438" cy="641239"/>
          </a:xfrm>
        </p:spPr>
        <p:txBody>
          <a:bodyPr/>
          <a:lstStyle/>
          <a:p>
            <a:pPr algn="ctr"/>
            <a:r>
              <a:rPr lang="en-US" dirty="0"/>
              <a:t>Responsive Design</a:t>
            </a:r>
          </a:p>
        </p:txBody>
      </p:sp>
    </p:spTree>
    <p:extLst>
      <p:ext uri="{BB962C8B-B14F-4D97-AF65-F5344CB8AC3E}">
        <p14:creationId xmlns:p14="http://schemas.microsoft.com/office/powerpoint/2010/main" val="4115261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7" y="1275593"/>
            <a:ext cx="8026013" cy="641239"/>
          </a:xfrm>
        </p:spPr>
        <p:txBody>
          <a:bodyPr/>
          <a:lstStyle/>
          <a:p>
            <a:r>
              <a:rPr lang="en-US" altLang="en-US" sz="2800" i="1" dirty="0"/>
              <a:t>Browsing</a:t>
            </a:r>
            <a:r>
              <a:rPr lang="en-US" altLang="en-US" sz="2800" dirty="0"/>
              <a:t> </a:t>
            </a:r>
            <a:r>
              <a:rPr lang="id-ID" altLang="en-US" sz="2800" dirty="0"/>
              <a:t>Menggunakan</a:t>
            </a:r>
            <a:r>
              <a:rPr lang="en-US" altLang="en-US" sz="2800" dirty="0"/>
              <a:t> </a:t>
            </a:r>
            <a:r>
              <a:rPr lang="en-US" altLang="en-US" sz="2800" i="1" dirty="0"/>
              <a:t>Mobile</a:t>
            </a:r>
            <a:r>
              <a:rPr lang="id-ID" altLang="en-US" sz="2800" i="1" dirty="0"/>
              <a:t> </a:t>
            </a:r>
            <a:r>
              <a:rPr lang="en-US" altLang="en-US" sz="2800" i="1" dirty="0"/>
              <a:t>Device</a:t>
            </a:r>
          </a:p>
        </p:txBody>
      </p:sp>
      <p:sp>
        <p:nvSpPr>
          <p:cNvPr id="28675" name="AutoShape 3"/>
          <p:cNvSpPr>
            <a:spLocks noGrp="1" noChangeAspect="1" noChangeArrowheads="1"/>
          </p:cNvSpPr>
          <p:nvPr>
            <p:ph idx="1"/>
          </p:nvPr>
        </p:nvSpPr>
        <p:spPr>
          <a:xfrm>
            <a:off x="467544" y="1988840"/>
            <a:ext cx="2880320" cy="1655762"/>
          </a:xfrm>
        </p:spPr>
        <p:txBody>
          <a:bodyPr/>
          <a:lstStyle/>
          <a:p>
            <a:pPr marL="0" indent="0">
              <a:buNone/>
            </a:pPr>
            <a:r>
              <a:rPr lang="id-ID" altLang="en-US" sz="2000" dirty="0"/>
              <a:t>Berikut ini merupakan </a:t>
            </a:r>
            <a:r>
              <a:rPr lang="id-ID" altLang="en-US" sz="2000" i="1" dirty="0"/>
              <a:t>layout</a:t>
            </a:r>
            <a:r>
              <a:rPr lang="id-ID" altLang="en-US" sz="2000" dirty="0"/>
              <a:t> halaman </a:t>
            </a:r>
            <a:r>
              <a:rPr lang="id-ID" altLang="en-US" sz="2000" i="1" dirty="0"/>
              <a:t>website</a:t>
            </a:r>
            <a:r>
              <a:rPr lang="id-ID" altLang="en-US" sz="2000" dirty="0"/>
              <a:t> yang ditampilkan melalui </a:t>
            </a:r>
            <a:r>
              <a:rPr lang="id-ID" altLang="en-US" sz="2000" i="1" dirty="0"/>
              <a:t>web browser</a:t>
            </a:r>
            <a:r>
              <a:rPr lang="id-ID" altLang="en-US" sz="2000" dirty="0"/>
              <a:t>.</a:t>
            </a: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C744FB-C2F0-4485-96E3-EC4C19392490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867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C36415-6CCA-4B1E-891C-64166A5085F9}" type="slidenum">
              <a:rPr lang="en-US" altLang="en-US" smtClean="0">
                <a:solidFill>
                  <a:srgbClr val="0066A1"/>
                </a:solidFill>
              </a:rPr>
              <a:pPr/>
              <a:t>37</a:t>
            </a:fld>
            <a:endParaRPr lang="en-US" altLang="en-US">
              <a:solidFill>
                <a:srgbClr val="0066A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12160" y="6032321"/>
            <a:ext cx="2520280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Sumber </a:t>
            </a:r>
            <a:r>
              <a:rPr lang="id-ID" sz="1200" b="1" dirty="0"/>
              <a:t>tripadvisor.co.id</a:t>
            </a:r>
          </a:p>
        </p:txBody>
      </p:sp>
      <p:pic>
        <p:nvPicPr>
          <p:cNvPr id="27652" name="Picture 4" descr="C:\Users\A S U S\Downloads\FireShot\FireShot Capture 193 - TripAdvisor_ Baca Ulasan, Bandingkan Harga,_ - https___www.tripadvisor.co.id_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6720" y="2060848"/>
            <a:ext cx="4680000" cy="373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385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25" y="1419609"/>
            <a:ext cx="8326438" cy="641239"/>
          </a:xfrm>
        </p:spPr>
        <p:txBody>
          <a:bodyPr/>
          <a:lstStyle/>
          <a:p>
            <a:r>
              <a:rPr lang="en-US" altLang="en-US" sz="2400" i="1" dirty="0"/>
              <a:t>Browsing</a:t>
            </a:r>
            <a:r>
              <a:rPr lang="en-US" altLang="en-US" sz="2400" dirty="0"/>
              <a:t> </a:t>
            </a:r>
            <a:r>
              <a:rPr lang="id-ID" altLang="en-US" sz="2400" dirty="0"/>
              <a:t>Menggunakan</a:t>
            </a:r>
            <a:r>
              <a:rPr lang="en-US" altLang="en-US" sz="2400" dirty="0"/>
              <a:t> </a:t>
            </a:r>
            <a:r>
              <a:rPr lang="en-US" altLang="en-US" sz="2400" i="1" dirty="0"/>
              <a:t>Mobile</a:t>
            </a:r>
            <a:r>
              <a:rPr lang="id-ID" altLang="en-US" sz="2400" i="1" dirty="0"/>
              <a:t> </a:t>
            </a:r>
            <a:r>
              <a:rPr lang="en-US" altLang="en-US" sz="2400" i="1" dirty="0"/>
              <a:t>Device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570837"/>
            <a:ext cx="5267325" cy="2862969"/>
          </a:xfrm>
        </p:spPr>
        <p:txBody>
          <a:bodyPr/>
          <a:lstStyle/>
          <a:p>
            <a:r>
              <a:rPr lang="id-ID" altLang="en-US" sz="2000" i="1" dirty="0"/>
              <a:t>Auto-converting</a:t>
            </a:r>
            <a:r>
              <a:rPr lang="id-ID" altLang="en-US" sz="2000" dirty="0"/>
              <a:t> dari tampilan web menjadi tampilan pada perangkat</a:t>
            </a:r>
            <a:r>
              <a:rPr lang="en-US" altLang="en-US" sz="2000" dirty="0"/>
              <a:t> </a:t>
            </a:r>
            <a:r>
              <a:rPr lang="id-ID" altLang="en-US" sz="2000" i="1" dirty="0"/>
              <a:t>mobile</a:t>
            </a:r>
            <a:r>
              <a:rPr lang="id-ID" altLang="en-US" sz="2000" dirty="0"/>
              <a:t> tidak selamanya dapat bekerja dengan baik</a:t>
            </a:r>
          </a:p>
          <a:p>
            <a:r>
              <a:rPr lang="id-ID" altLang="en-US" sz="2000" dirty="0"/>
              <a:t>Pengembang </a:t>
            </a:r>
            <a:r>
              <a:rPr lang="id-ID" altLang="en-US" sz="2000" i="1" dirty="0"/>
              <a:t>website</a:t>
            </a:r>
            <a:r>
              <a:rPr lang="id-ID" altLang="en-US" sz="2000" dirty="0"/>
              <a:t> perlu bekerja sama dengan desainer perlu</a:t>
            </a:r>
            <a:r>
              <a:rPr lang="en-US" altLang="en-US" sz="2000" dirty="0"/>
              <a:t> </a:t>
            </a:r>
            <a:r>
              <a:rPr lang="id-ID" altLang="en-US" sz="2000" dirty="0"/>
              <a:t>mempersiapkan </a:t>
            </a:r>
            <a:r>
              <a:rPr lang="id-ID" altLang="en-US" sz="2000" i="1" dirty="0"/>
              <a:t>re-design</a:t>
            </a:r>
            <a:r>
              <a:rPr lang="id-ID" altLang="en-US" sz="2000" dirty="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8F3831-8A4A-42BE-95C6-A9CBD54E4E2C}" type="datetime1">
              <a:rPr lang="en-US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072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26E1BB-EDED-4765-92E2-E09587EA17B6}" type="slidenum">
              <a:rPr lang="en-US" altLang="en-US" smtClean="0">
                <a:solidFill>
                  <a:srgbClr val="0066A1"/>
                </a:solidFill>
              </a:rPr>
              <a:pPr/>
              <a:t>38</a:t>
            </a:fld>
            <a:endParaRPr lang="en-US" altLang="en-US">
              <a:solidFill>
                <a:srgbClr val="0066A1"/>
              </a:solidFill>
            </a:endParaRPr>
          </a:p>
        </p:txBody>
      </p:sp>
      <p:pic>
        <p:nvPicPr>
          <p:cNvPr id="11" name="Picture 2" descr="C:\Users\A S U S\Downloads\FireShot\FireShot Capture 194 - TripAdvisor_ Baca Ulasan, Bandingkan Harga,_ - https___www.tripadvisor.co.id_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17815" y="1916832"/>
            <a:ext cx="2714625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012160" y="6032321"/>
            <a:ext cx="2520280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Sumber </a:t>
            </a:r>
            <a:r>
              <a:rPr lang="id-ID" sz="1200" b="1" dirty="0"/>
              <a:t>tripadvisor.co.id</a:t>
            </a:r>
          </a:p>
        </p:txBody>
      </p:sp>
    </p:spTree>
    <p:extLst>
      <p:ext uri="{BB962C8B-B14F-4D97-AF65-F5344CB8AC3E}">
        <p14:creationId xmlns:p14="http://schemas.microsoft.com/office/powerpoint/2010/main" val="1520831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6. gesture.wmv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512" y="1268760"/>
            <a:ext cx="8820472" cy="504056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1C3AEA-4BB7-4702-AB2C-7242598B2B16}" type="datetime1">
              <a:rPr lang="en-US" smtClean="0">
                <a:solidFill>
                  <a:prstClr val="white"/>
                </a:solidFill>
              </a:rPr>
              <a:pPr>
                <a:defRPr/>
              </a:pPr>
              <a:t>8/13/2020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15F2A9-7083-4189-AA09-2CB48969CCAC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39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03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1643063" cy="365125"/>
          </a:xfrm>
        </p:spPr>
        <p:txBody>
          <a:bodyPr/>
          <a:lstStyle/>
          <a:p>
            <a:pPr>
              <a:defRPr/>
            </a:pPr>
            <a:fld id="{8345ABEB-8819-4EC9-8039-1829AE021741}" type="datetime1">
              <a:rPr lang="en-US" smtClean="0"/>
              <a:t>8/13/2020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7824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2a443e810c831204495043beb211afe3773bb1"/>
</p:tagLst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44019-e0c0-4cbe-b9e1-79848028e4af" xsi:nil="true"/>
    <lcf76f155ced4ddcb4097134ff3c332f xmlns="4a4cec7d-c36e-444e-b338-a48af7a4be8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89CF520593D848ADA951A466C51C3B" ma:contentTypeVersion="13" ma:contentTypeDescription="Create a new document." ma:contentTypeScope="" ma:versionID="43ab5b3ac3923026da5554421e0a47c5">
  <xsd:schema xmlns:xsd="http://www.w3.org/2001/XMLSchema" xmlns:xs="http://www.w3.org/2001/XMLSchema" xmlns:p="http://schemas.microsoft.com/office/2006/metadata/properties" xmlns:ns2="4a4cec7d-c36e-444e-b338-a48af7a4be82" xmlns:ns3="da944019-e0c0-4cbe-b9e1-79848028e4af" targetNamespace="http://schemas.microsoft.com/office/2006/metadata/properties" ma:root="true" ma:fieldsID="2865ae3282610fb7a5938fb347ca3def" ns2:_="" ns3:_="">
    <xsd:import namespace="4a4cec7d-c36e-444e-b338-a48af7a4be82"/>
    <xsd:import namespace="da944019-e0c0-4cbe-b9e1-79848028e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cec7d-c36e-444e-b338-a48af7a4be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d36bd76-decb-4dd1-ad12-0d0eb5e8b8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44019-e0c0-4cbe-b9e1-79848028e4a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328c0b8-7eb1-4269-9651-4b2cb19e42d2}" ma:internalName="TaxCatchAll" ma:showField="CatchAllData" ma:web="da944019-e0c0-4cbe-b9e1-79848028e4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9BAB37-E2F0-4D86-A279-559E413F130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DD7E97C-C246-456A-B418-F09B52C08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E5E0CF-0BBC-4AE8-9628-44E823C4363F}"/>
</file>

<file path=docProps/app.xml><?xml version="1.0" encoding="utf-8"?>
<Properties xmlns="http://schemas.openxmlformats.org/officeDocument/2006/extended-properties" xmlns:vt="http://schemas.openxmlformats.org/officeDocument/2006/docPropsVTypes">
  <Template>Template Informatika(1)</Template>
  <TotalTime>1175</TotalTime>
  <Words>1268</Words>
  <Application>Microsoft Office PowerPoint</Application>
  <PresentationFormat>On-screen Show (4:3)</PresentationFormat>
  <Paragraphs>254</Paragraphs>
  <Slides>40</Slides>
  <Notes>3</Notes>
  <HiddenSlides>0</HiddenSlides>
  <MMClips>2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ＭＳ Ｐゴシック</vt:lpstr>
      <vt:lpstr>Arial</vt:lpstr>
      <vt:lpstr>Brush Script Std</vt:lpstr>
      <vt:lpstr>Calibri</vt:lpstr>
      <vt:lpstr>Lucida Grande</vt:lpstr>
      <vt:lpstr>Verdana</vt:lpstr>
      <vt:lpstr>Wingdings</vt:lpstr>
      <vt:lpstr>Wingdings 3</vt:lpstr>
      <vt:lpstr>template_informatika_slide</vt:lpstr>
      <vt:lpstr>1_template_informatika_slide</vt:lpstr>
      <vt:lpstr>Bitmap Image</vt:lpstr>
      <vt:lpstr>Interaksi Manusia dan Komputer (IMK)</vt:lpstr>
      <vt:lpstr>Overview</vt:lpstr>
      <vt:lpstr>PowerPoint Presentation</vt:lpstr>
      <vt:lpstr>PowerPoint Presentation</vt:lpstr>
      <vt:lpstr>PowerPoint Presentation</vt:lpstr>
      <vt:lpstr>Web Design Principles</vt:lpstr>
      <vt:lpstr>Atribut</vt:lpstr>
      <vt:lpstr>Textual Content </vt:lpstr>
      <vt:lpstr>Graphic Design</vt:lpstr>
      <vt:lpstr>Graphic Design</vt:lpstr>
      <vt:lpstr>Graphic Design</vt:lpstr>
      <vt:lpstr>Graphic Design</vt:lpstr>
      <vt:lpstr>PowerPoint Presentation</vt:lpstr>
      <vt:lpstr>Dimana letak perbedaannya?</vt:lpstr>
      <vt:lpstr>Graphic Design</vt:lpstr>
      <vt:lpstr>Navigation</vt:lpstr>
      <vt:lpstr>Structure</vt:lpstr>
      <vt:lpstr>Structure</vt:lpstr>
      <vt:lpstr>Links</vt:lpstr>
      <vt:lpstr>Links</vt:lpstr>
      <vt:lpstr>Interaksi Manusia dan Komputer (IMK)</vt:lpstr>
      <vt:lpstr>Tujuan</vt:lpstr>
      <vt:lpstr>Overview</vt:lpstr>
      <vt:lpstr>Mobile Device</vt:lpstr>
      <vt:lpstr>PowerPoint Presentation</vt:lpstr>
      <vt:lpstr>Mobile User Interface Principles</vt:lpstr>
      <vt:lpstr>Apa yang Berbeda pada Perangkat Mobile?</vt:lpstr>
      <vt:lpstr>Interface Perangkat Mobile [1]</vt:lpstr>
      <vt:lpstr>Interface Perangkat Mobile [2]</vt:lpstr>
      <vt:lpstr>Hal yang Diperhatikan</vt:lpstr>
      <vt:lpstr>Hal yang Diperhatikan (lanjutan)</vt:lpstr>
      <vt:lpstr>Prinsip Desain Antarmuka Perangkat Mobile [1]</vt:lpstr>
      <vt:lpstr>Prinsip Desain Antarmuka Perangkat Mobile [2]</vt:lpstr>
      <vt:lpstr>Prinsip Desain Antarmuka Perangkat Mobile [3]</vt:lpstr>
      <vt:lpstr>Interface mobile device yang menggantikan keypad dengan touch screen berupa alfabet yang disusun melingkar.  Sesuaikah interface ini? </vt:lpstr>
      <vt:lpstr>Responsive Design</vt:lpstr>
      <vt:lpstr>Browsing Menggunakan Mobile Device</vt:lpstr>
      <vt:lpstr>Browsing Menggunakan Mobile Device</vt:lpstr>
      <vt:lpstr>PowerPoint Presentation</vt:lpstr>
      <vt:lpstr>PowerPoint Presentation</vt:lpstr>
    </vt:vector>
  </TitlesOfParts>
  <Company>eXplore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eXtreme Name</dc:creator>
  <cp:lastModifiedBy>XPS12</cp:lastModifiedBy>
  <cp:revision>80</cp:revision>
  <dcterms:created xsi:type="dcterms:W3CDTF">2006-02-19T02:12:03Z</dcterms:created>
  <dcterms:modified xsi:type="dcterms:W3CDTF">2020-08-13T06:43:55Z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0x0101005889CF520593D848ADA951A466C51C3B</vt:lpwstr>
  </property>
  <property fmtid="{D5CDD505-2E9C-101B-9397-08002B2CF9AE}" pid="3" name="MediaServiceImageTags">
    <vt:lpwstr/>
  </property>
</Properties>
</file>